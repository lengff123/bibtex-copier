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/>
    <a:lvl1pPr marL="0" indent="0"/>
    <a:lvl2pPr marL="0" indent="0"/>
    <a:lvl3pPr marL="0" indent="0"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1" showNarration="1" useTimings="0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 autoAdjust="1"/>
  </p:normalViewPr>
  <p:slideViewPr>
    <p:cSldViewPr snapToGrid="1" snapToObjects="1"/>
  </p:slideViewPr>
  <p:guideLst/>
</p:viewPr>
</file>

<file path=ppt/_rels/presentation.xml.rels><?xml version="1.0" encoding="UTF-8" standalone="yes"?>
      <Relationships xmlns="http://schemas.openxmlformats.org/package/2006/relationships">
    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presProps" Target="presProps.xml"/>
<Relationship Id="rId8" Type="http://schemas.openxmlformats.org/officeDocument/2006/relationships/viewProps" Target="viewProps.xml"/>
<Relationship Id="rId9" Type="http://schemas.openxmlformats.org/officeDocument/2006/relationships/tableStyles" Target="tableStyles.xml"/>
      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/>
      </a:lvl1pPr>
    </p:titleStyle>
    <p:bodyStyle>
      <a:lvl1pPr marL="0" indent="0">
        <a:defRPr sz="2200"/>
      </a:lvl1pPr>
    </p:bodyStyle>
    <p:otherStyle>
      <a:lvl1pPr marL="0" indent="0"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18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Cover Title"/>
          <p:cNvSpPr txBox="1"/>
          <p:nvPr/>
        </p:nvSpPr>
        <p:spPr>
          <a:xfrm>
            <a:off x="640000" y="3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zh-CN" sz="3200" b="1">
                <a:solidFill>
                  <a:srgbClr val="FFFFFF"/>
                </a:solidFill>
                <a:latin typeface="Aptos"/>
                <a:ea typeface="Microsoft YaHei"/>
                <a:cs typeface="Aptos"/>
              </a:rPr>
              <a:t>BibTeX 自动获取工具</a:t>
            </a:r>
            <a:endParaRPr lang="zh-CN" sz="3200"/>
          </a:p>
        </p:txBody>
      </p:sp>
      <p:sp>
        <p:nvSpPr>
          <p:cNvPr id="4" name="Cover Subtitle"/>
          <p:cNvSpPr txBox="1"/>
          <p:nvPr/>
        </p:nvSpPr>
        <p:spPr>
          <a:xfrm>
            <a:off x="640000" y="1150000"/>
            <a:ext cx="108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zh-CN" sz="2000">
                <a:solidFill>
                  <a:srgbClr val="D1FAE5"/>
                </a:solidFill>
                <a:latin typeface="Aptos"/>
                <a:ea typeface="Microsoft YaHei"/>
                <a:cs typeface="Aptos"/>
              </a:rPr>
              <a:t>网页选中即取 BibTeX 的 Tampermonkey 用户脚本</a:t>
            </a:r>
            <a:endParaRPr lang="zh-CN" sz="2000"/>
          </a:p>
        </p:txBody>
      </p:sp>
      <p:sp>
        <p:nvSpPr>
          <p:cNvPr id="5" name="Cover Body"/>
          <p:cNvSpPr txBox="1"/>
          <p:nvPr/>
        </p:nvSpPr>
        <p:spPr>
          <a:xfrm>
            <a:off x="860000" y="2350000"/>
            <a:ext cx="100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zh-CN" sz="2400" b="1">
                <a:solidFill>
                  <a:srgbClr val="0F172A"/>
                </a:solidFill>
                <a:latin typeface="Aptos"/>
                <a:ea typeface="Microsoft YaHei"/>
                <a:cs typeface="Aptos"/>
              </a:rPr>
              <a:t>使用说明 PPT（5页版）</a:t>
            </a:r>
            <a:endParaRPr lang="zh-CN" sz="2400"/>
          </a:p>
          <a:p>
            <a:endParaRPr lang="zh-CN" sz="1200"/>
          </a:p>
          <a:p>
            <a:pPr algn="l">
              <a:buNone/>
            </a:pPr>
            <a:r>
              <a:rPr lang="zh-CN" sz="1900">
                <a:solidFill>
                  <a:srgbClr val="334155"/>
                </a:solidFill>
                <a:latin typeface="Aptos"/>
                <a:ea typeface="Microsoft YaHei"/>
                <a:cs typeface="Aptos"/>
              </a:rPr>
              <a:t>版本：v1.5</a:t>
            </a:r>
            <a:endParaRPr lang="zh-CN" sz="1900"/>
          </a:p>
          <a:p>
            <a:pPr algn="l">
              <a:buNone/>
            </a:pPr>
            <a:r>
              <a:rPr lang="zh-CN" sz="1900">
                <a:solidFill>
                  <a:srgbClr val="334155"/>
                </a:solidFill>
                <a:latin typeface="Aptos"/>
                <a:ea typeface="Microsoft YaHei"/>
                <a:cs typeface="Aptos"/>
              </a:rPr>
              <a:t>主文件：bibtex-getter.user.js</a:t>
            </a:r>
            <a:endParaRPr lang="zh-CN" sz="1900"/>
          </a:p>
          <a:p>
            <a:pPr algn="l">
              <a:buNone/>
            </a:pPr>
            <a:r>
              <a:rPr lang="zh-CN" sz="1900">
                <a:solidFill>
                  <a:srgbClr val="334155"/>
                </a:solidFill>
                <a:latin typeface="Aptos"/>
                <a:ea typeface="Microsoft YaHei"/>
                <a:cs typeface="Aptos"/>
              </a:rPr>
              <a:t>适用场景：论文网页、PDF 在线阅读器、Google Scholar 等</a:t>
            </a:r>
            <a:endParaRPr lang="zh-CN" sz="1900"/>
          </a:p>
        </p:txBody>
      </p:sp>
      <p:sp>
        <p:nvSpPr>
          <p:cNvPr id="6" name="Cover Footer"/>
          <p:cNvSpPr txBox="1"/>
          <p:nvPr/>
        </p:nvSpPr>
        <p:spPr>
          <a:xfrm>
            <a:off x="860000" y="6050000"/>
            <a:ext cx="10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buNone/>
            </a:pPr>
            <a:r>
              <a:rPr lang="zh-CN" sz="1300">
                <a:solidFill>
                  <a:srgbClr val="64748B"/>
                </a:solidFill>
                <a:latin typeface="Aptos"/>
                <a:ea typeface="Microsoft YaHei"/>
                <a:cs typeface="Aptos"/>
              </a:rPr>
              <a:t>基于 README 与 bibtex-getter.user.js 整理</a:t>
            </a:r>
            <a:endParaRPr lang="zh-CN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9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lide Title"/>
          <p:cNvSpPr txBox="1"/>
          <p:nvPr/>
        </p:nvSpPr>
        <p:spPr>
          <a:xfrm>
            <a:off x="620000" y="200000"/>
            <a:ext cx="10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zh-CN" sz="2700" b="1">
                <a:solidFill>
                  <a:srgbClr val="FFFFFF"/>
                </a:solidFill>
                <a:latin typeface="Aptos"/>
                <a:ea typeface="Microsoft YaHei"/>
                <a:cs typeface="Aptos"/>
              </a:rPr>
              <a:t>安装与启动</a:t>
            </a:r>
            <a:endParaRPr lang="zh-CN" sz="2700"/>
          </a:p>
        </p:txBody>
      </p:sp>
      <p:sp>
        <p:nvSpPr>
          <p:cNvPr id="4" name="Slide Body"/>
          <p:cNvSpPr txBox="1"/>
          <p:nvPr/>
        </p:nvSpPr>
        <p:spPr>
          <a:xfrm>
            <a:off x="720000" y="1280000"/>
            <a:ext cx="10600000" cy="4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zh-CN" sz="22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1. 先在浏览器中安装 Tampermonkey 扩展。</a:t>
            </a:r>
            <a:endParaRPr lang="zh-CN" sz="2200"/>
          </a:p>
          <a:p>
            <a:pPr algn="l">
              <a:buNone/>
            </a:pPr>
            <a:r>
              <a:rPr lang="zh-CN" sz="22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2. 打开 Tampermonkey，创建新脚本。</a:t>
            </a:r>
            <a:endParaRPr lang="zh-CN" sz="2200"/>
          </a:p>
          <a:p>
            <a:pPr algn="l">
              <a:buNone/>
            </a:pPr>
            <a:r>
              <a:rPr lang="zh-CN" sz="22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3. 将 bibtex-getter.user.js 全部内容粘贴进去并保存。</a:t>
            </a:r>
            <a:endParaRPr lang="zh-CN" sz="2200"/>
          </a:p>
          <a:p>
            <a:pPr algn="l">
              <a:buNone/>
            </a:pPr>
            <a:r>
              <a:rPr lang="zh-CN" sz="22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4. 刷新任意网页，右下角看到 Get BibTeX 按钮即表示安装成功。</a:t>
            </a:r>
            <a:endParaRPr lang="zh-CN" sz="2200"/>
          </a:p>
          <a:p>
            <a:pPr algn="l">
              <a:buNone/>
            </a:pPr>
            <a:r>
              <a:rPr lang="zh-CN" sz="22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5. 如按钮未出现，优先检查扩展是否启用、脚本是否启用、按钮是否被隐藏。</a:t>
            </a:r>
            <a:endParaRPr lang="zh-CN" sz="2200"/>
          </a:p>
          <a:p>
            <a:endParaRPr lang="zh-CN" sz="2200"/>
          </a:p>
          <a:p>
            <a:pPr algn="l">
              <a:buNone/>
            </a:pPr>
            <a:r>
              <a:rPr lang="zh-CN" sz="20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提示：支持 Chrome、Firefox、Edge 等安装了 Tampermonkey 的浏览器。</a:t>
            </a:r>
            <a:endParaRPr lang="zh-CN" sz="2000"/>
          </a:p>
        </p:txBody>
      </p:sp>
      <p:sp>
        <p:nvSpPr>
          <p:cNvPr id="5" name="Slide Footer"/>
          <p:cNvSpPr txBox="1"/>
          <p:nvPr/>
        </p:nvSpPr>
        <p:spPr>
          <a:xfrm>
            <a:off x="720000" y="6100000"/>
            <a:ext cx="106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buNone/>
            </a:pPr>
            <a:r>
              <a:rPr lang="zh-CN" sz="1300">
                <a:solidFill>
                  <a:srgbClr val="64748B"/>
                </a:solidFill>
                <a:latin typeface="Aptos"/>
                <a:ea typeface="Microsoft YaHei"/>
                <a:cs typeface="Aptos"/>
              </a:rPr>
              <a:t>第 2 页 | 安装完成后即可在任意网页使用</a:t>
            </a:r>
            <a:endParaRPr lang="zh-CN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9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lide Title"/>
          <p:cNvSpPr txBox="1"/>
          <p:nvPr/>
        </p:nvSpPr>
        <p:spPr>
          <a:xfrm>
            <a:off x="620000" y="200000"/>
            <a:ext cx="10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zh-CN" sz="2700" b="1">
                <a:solidFill>
                  <a:srgbClr val="FFFFFF"/>
                </a:solidFill>
                <a:latin typeface="Aptos"/>
                <a:ea typeface="Microsoft YaHei"/>
                <a:cs typeface="Aptos"/>
              </a:rPr>
              <a:t>基本使用流程</a:t>
            </a:r>
            <a:endParaRPr lang="zh-CN" sz="2700"/>
          </a:p>
        </p:txBody>
      </p:sp>
      <p:sp>
        <p:nvSpPr>
          <p:cNvPr id="4" name="Slide Body"/>
          <p:cNvSpPr txBox="1"/>
          <p:nvPr/>
        </p:nvSpPr>
        <p:spPr>
          <a:xfrm>
            <a:off x="720000" y="1280000"/>
            <a:ext cx="10600000" cy="4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zh-CN" sz="22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1. 在网页上选中论文标题、作者名、DOI 或搜索关键词。</a:t>
            </a:r>
            <a:endParaRPr lang="zh-CN" sz="2200"/>
          </a:p>
          <a:p>
            <a:pPr algn="l">
              <a:buNone/>
            </a:pPr>
            <a:r>
              <a:rPr lang="zh-CN" sz="22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2. 左键点击 Get BibTeX 可直接复制；右键点击可先预览再复制。</a:t>
            </a:r>
            <a:endParaRPr lang="zh-CN" sz="2200"/>
          </a:p>
          <a:p>
            <a:pPr algn="l">
              <a:buNone/>
            </a:pPr>
            <a:r>
              <a:rPr lang="zh-CN" sz="22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3. 也可以使用快捷键 Ctrl+Shift+B 触发获取。</a:t>
            </a:r>
            <a:endParaRPr lang="zh-CN" sz="2200"/>
          </a:p>
          <a:p>
            <a:pPr algn="l">
              <a:buNone/>
            </a:pPr>
            <a:r>
              <a:rPr lang="zh-CN" sz="22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4. 脚本的处理顺序为：检测 DOI -&gt; DBLP -&gt; Crossref。</a:t>
            </a:r>
            <a:endParaRPr lang="zh-CN" sz="2200"/>
          </a:p>
          <a:p>
            <a:pPr algn="l">
              <a:buNone/>
            </a:pPr>
            <a:r>
              <a:rPr lang="zh-CN" sz="22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5. 获取成功后，BibTeX 会自动写入剪贴板并显示提示。</a:t>
            </a:r>
            <a:endParaRPr lang="zh-CN" sz="2200"/>
          </a:p>
          <a:p>
            <a:endParaRPr lang="zh-CN" sz="2200"/>
          </a:p>
          <a:p>
            <a:pPr algn="l">
              <a:buNone/>
            </a:pPr>
            <a:r>
              <a:rPr lang="zh-CN" sz="20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提示：DBLP 更适合计算机科学论文，Crossref 负责通用回退。</a:t>
            </a:r>
            <a:endParaRPr lang="zh-CN" sz="2000"/>
          </a:p>
        </p:txBody>
      </p:sp>
      <p:sp>
        <p:nvSpPr>
          <p:cNvPr id="5" name="Slide Footer"/>
          <p:cNvSpPr txBox="1"/>
          <p:nvPr/>
        </p:nvSpPr>
        <p:spPr>
          <a:xfrm>
            <a:off x="720000" y="6100000"/>
            <a:ext cx="106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buNone/>
            </a:pPr>
            <a:r>
              <a:rPr lang="zh-CN" sz="1300">
                <a:solidFill>
                  <a:srgbClr val="64748B"/>
                </a:solidFill>
                <a:latin typeface="Aptos"/>
                <a:ea typeface="Microsoft YaHei"/>
                <a:cs typeface="Aptos"/>
              </a:rPr>
              <a:t>第 3 页 | 最常用的一页，适合现场演示</a:t>
            </a:r>
            <a:endParaRPr lang="zh-CN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9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lide Title"/>
          <p:cNvSpPr txBox="1"/>
          <p:nvPr/>
        </p:nvSpPr>
        <p:spPr>
          <a:xfrm>
            <a:off x="620000" y="200000"/>
            <a:ext cx="10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zh-CN" sz="2700" b="1">
                <a:solidFill>
                  <a:srgbClr val="FFFFFF"/>
                </a:solidFill>
                <a:latin typeface="Aptos"/>
                <a:ea typeface="Microsoft YaHei"/>
                <a:cs typeface="Aptos"/>
              </a:rPr>
              <a:t>进阶功能</a:t>
            </a:r>
            <a:endParaRPr lang="zh-CN" sz="2700"/>
          </a:p>
        </p:txBody>
      </p:sp>
      <p:sp>
        <p:nvSpPr>
          <p:cNvPr id="4" name="Slide Body"/>
          <p:cNvSpPr txBox="1"/>
          <p:nvPr/>
        </p:nvSpPr>
        <p:spPr>
          <a:xfrm>
            <a:off x="720000" y="1280000"/>
            <a:ext cx="10600000" cy="4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zh-CN" sz="22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1. DOI 直连：选中文本中包含 DOI 时，会优先按 DOI 直接获取 BibTeX。</a:t>
            </a:r>
            <a:endParaRPr lang="zh-CN" sz="2200"/>
          </a:p>
          <a:p>
            <a:pPr algn="l">
              <a:buNone/>
            </a:pPr>
            <a:r>
              <a:rPr lang="zh-CN" sz="22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2. 多结果选择：Crossref 返回多条记录时，会弹窗让用户手动选择。</a:t>
            </a:r>
            <a:endParaRPr lang="zh-CN" sz="2200"/>
          </a:p>
          <a:p>
            <a:pPr algn="l">
              <a:buNone/>
            </a:pPr>
            <a:r>
              <a:rPr lang="zh-CN" sz="22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3. 摘要补全：若 BibTeX 缺少 abstract，会按 DOI 向 Crossref、Semantic Scholar、OpenAlex 尝试补齐。</a:t>
            </a:r>
            <a:endParaRPr lang="zh-CN" sz="2200"/>
          </a:p>
          <a:p>
            <a:pPr algn="l">
              <a:buNone/>
            </a:pPr>
            <a:r>
              <a:rPr lang="zh-CN" sz="22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4. 搜索历史：自动保存最近 20 条记录，可再次预览、复制或清空。</a:t>
            </a:r>
            <a:endParaRPr lang="zh-CN" sz="2200"/>
          </a:p>
          <a:p>
            <a:pPr algn="l">
              <a:buNone/>
            </a:pPr>
            <a:r>
              <a:rPr lang="zh-CN" sz="22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5. 历史导出：支持导出 bibtex-history.bib，方便导入文献管理工具。</a:t>
            </a:r>
            <a:endParaRPr lang="zh-CN" sz="2200"/>
          </a:p>
          <a:p>
            <a:pPr algn="l">
              <a:buNone/>
            </a:pPr>
            <a:r>
              <a:rPr lang="zh-CN" sz="22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6. 其他细节：1 小时缓存、多语言提示、按钮显示/隐藏。</a:t>
            </a:r>
            <a:endParaRPr lang="zh-CN" sz="2200"/>
          </a:p>
        </p:txBody>
      </p:sp>
      <p:sp>
        <p:nvSpPr>
          <p:cNvPr id="5" name="Slide Footer"/>
          <p:cNvSpPr txBox="1"/>
          <p:nvPr/>
        </p:nvSpPr>
        <p:spPr>
          <a:xfrm>
            <a:off x="720000" y="6100000"/>
            <a:ext cx="106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buNone/>
            </a:pPr>
            <a:r>
              <a:rPr lang="zh-CN" sz="1300">
                <a:solidFill>
                  <a:srgbClr val="64748B"/>
                </a:solidFill>
                <a:latin typeface="Aptos"/>
                <a:ea typeface="Microsoft YaHei"/>
                <a:cs typeface="Aptos"/>
              </a:rPr>
              <a:t>第 4 页 | 适合说明脚本比普通复制工具更强的地方</a:t>
            </a:r>
            <a:endParaRPr lang="zh-CN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9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lide Title"/>
          <p:cNvSpPr txBox="1"/>
          <p:nvPr/>
        </p:nvSpPr>
        <p:spPr>
          <a:xfrm>
            <a:off x="620000" y="200000"/>
            <a:ext cx="10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zh-CN" sz="2700" b="1">
                <a:solidFill>
                  <a:srgbClr val="FFFFFF"/>
                </a:solidFill>
                <a:latin typeface="Aptos"/>
                <a:ea typeface="Microsoft YaHei"/>
                <a:cs typeface="Aptos"/>
              </a:rPr>
              <a:t>Google Scholar 与使用建议</a:t>
            </a:r>
            <a:endParaRPr lang="zh-CN" sz="2700"/>
          </a:p>
        </p:txBody>
      </p:sp>
      <p:sp>
        <p:nvSpPr>
          <p:cNvPr id="4" name="Slide Body"/>
          <p:cNvSpPr txBox="1"/>
          <p:nvPr/>
        </p:nvSpPr>
        <p:spPr>
          <a:xfrm>
            <a:off x="720000" y="1280000"/>
            <a:ext cx="10600000" cy="4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zh-CN" sz="22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1. 在 scholar.google.* 页面，脚本会增强可用的 BibTeX 导出链接。</a:t>
            </a:r>
            <a:endParaRPr lang="zh-CN" sz="2200"/>
          </a:p>
          <a:p>
            <a:pPr algn="l">
              <a:buNone/>
            </a:pPr>
            <a:r>
              <a:rPr lang="zh-CN" sz="22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2. 点击增强后的链接后，可直接请求并复制 BibTeX 内容。</a:t>
            </a:r>
            <a:endParaRPr lang="zh-CN" sz="2200"/>
          </a:p>
          <a:p>
            <a:pPr algn="l">
              <a:buNone/>
            </a:pPr>
            <a:r>
              <a:rPr lang="zh-CN" sz="22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3. 建议优先选完整论文标题；如果页面有 DOI，优先直接选 DOI。</a:t>
            </a:r>
            <a:endParaRPr lang="zh-CN" sz="2200"/>
          </a:p>
          <a:p>
            <a:pPr algn="l">
              <a:buNone/>
            </a:pPr>
            <a:r>
              <a:rPr lang="zh-CN" sz="22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4. 不确定结果是否准确时，优先使用右键预览模式。</a:t>
            </a:r>
            <a:endParaRPr lang="zh-CN" sz="2200"/>
          </a:p>
          <a:p>
            <a:pPr algn="l">
              <a:buNone/>
            </a:pPr>
            <a:r>
              <a:rPr lang="zh-CN" sz="22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5. 搜不到结果时，通常是关键词不够准，或条目未被 DBLP / Crossref 收录。</a:t>
            </a:r>
            <a:endParaRPr lang="zh-CN" sz="2200"/>
          </a:p>
          <a:p>
            <a:pPr algn="l">
              <a:buNone/>
            </a:pPr>
            <a:r>
              <a:rPr lang="zh-CN" sz="2200">
                <a:solidFill>
                  <a:srgbClr val="1F2937"/>
                </a:solidFill>
                <a:latin typeface="Aptos"/>
                <a:ea typeface="Microsoft YaHei"/>
                <a:cs typeface="Aptos"/>
              </a:rPr>
              <a:t>6. 没有摘要时，通常是条目无 DOI，或外部数据源没有提供 abstract。</a:t>
            </a:r>
            <a:endParaRPr lang="zh-CN" sz="2200"/>
          </a:p>
        </p:txBody>
      </p:sp>
      <p:sp>
        <p:nvSpPr>
          <p:cNvPr id="5" name="Slide Footer"/>
          <p:cNvSpPr txBox="1"/>
          <p:nvPr/>
        </p:nvSpPr>
        <p:spPr>
          <a:xfrm>
            <a:off x="720000" y="6100000"/>
            <a:ext cx="106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buNone/>
            </a:pPr>
            <a:r>
              <a:rPr lang="zh-CN" sz="1300">
                <a:solidFill>
                  <a:srgbClr val="64748B"/>
                </a:solidFill>
                <a:latin typeface="Aptos"/>
                <a:ea typeface="Microsoft YaHei"/>
                <a:cs typeface="Aptos"/>
              </a:rPr>
              <a:t>第 5 页 | 结束页可顺带讲常见问题与最佳实践</a:t>
            </a:r>
            <a:endParaRPr lang="zh-CN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bTeX Getter Theme">
  <a:themeElements>
    <a:clrScheme name="BibTeX Getter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0F766E"/>
      </a:accent1>
      <a:accent2>
        <a:srgbClr val="2563EB"/>
      </a:accent2>
      <a:accent3>
        <a:srgbClr val="EA580C"/>
      </a:accent3>
      <a:accent4>
        <a:srgbClr val="7C3AED"/>
      </a:accent4>
      <a:accent5>
        <a:srgbClr val="DC2626"/>
      </a:accent5>
      <a:accent6>
        <a:srgbClr val="4F46E5"/>
      </a:accent6>
      <a:hlink>
        <a:srgbClr val="2563EB"/>
      </a:hlink>
      <a:folHlink>
        <a:srgbClr val="7C3AED"/>
      </a:folHlink>
    </a:clrScheme>
    <a:fontScheme name="BibTeX Getter">
      <a:majorFont>
        <a:latin typeface="Aptos Display"/>
        <a:ea typeface="Microsoft YaHei"/>
        <a:cs typeface="Aptos"/>
      </a:majorFont>
      <a:minorFont>
        <a:latin typeface="Aptos"/>
        <a:ea typeface="Microsoft YaHei"/>
        <a:cs typeface="Aptos"/>
      </a:minorFont>
    </a:fontScheme>
    <a:fmtScheme name="BibTeX Getter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9525">
          <a:solidFill>
            <a:schemeClr val="phClr"/>
          </a:solidFill>
          <a:prstDash val="solid"/>
        </a:ln>
        <a:ln w="25400">
          <a:solidFill>
            <a:schemeClr val="accent1"/>
          </a:solidFill>
          <a:prstDash val="solid"/>
        </a:ln>
        <a:ln w="38100">
          <a:solidFill>
            <a:schemeClr val="accent2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5</vt:i4>
      </vt:variant>
    </vt:vector>
  </HeadingPairs>
  <TitlesOfParts>
    <vt:vector size="5" baseType="lpstr">
      <vt:lpstr>封面</vt:lpstr>
      <vt:lpstr>安装与启动</vt:lpstr>
      <vt:lpstr>基本使用流程</vt:lpstr>
      <vt:lpstr>进阶功能</vt:lpstr>
      <vt:lpstr>Google Scholar 与建议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BibTeX 自动获取工具使用说明</dc:title>
  <dc:creator>Codex</dc:creator>
  <cp:lastModifiedBy>Codex</cp:lastModifiedBy>
  <dcterms:created xsi:type="dcterms:W3CDTF">2026-03-22T11:07:20Z</dcterms:created>
  <dcterms:modified xsi:type="dcterms:W3CDTF">2026-03-22T11:07:20Z</dcterms:modified>
</cp:coreProperties>
</file>